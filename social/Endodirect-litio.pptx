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58368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16736" y="658368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320">
                <a:solidFill>
                  <a:srgbClr val="E2B854"/>
                </a:solidFill>
                <a:latin typeface="Poppins"/>
              </a:rPr>
              <a:t>ENDODIRECT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93992" y="65836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200">
                <a:solidFill>
                  <a:srgbClr val="E2B854"/>
                </a:solidFill>
                <a:latin typeface="Poppins"/>
              </a:rPr>
              <a:t>01 </a:t>
            </a:r>
            <a:r>
              <a:rPr sz="1500" b="1" spc="200">
                <a:solidFill>
                  <a:srgbClr val="A9B5CE"/>
                </a:solidFill>
                <a:latin typeface="Poppins"/>
              </a:rPr>
              <a:t>/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28800"/>
            <a:ext cx="2148840" cy="2286000"/>
          </a:xfrm>
          <a:prstGeom prst="roundRect">
            <a:avLst>
              <a:gd name="adj" fmla="val 12000"/>
            </a:avLst>
          </a:prstGeom>
          <a:solidFill>
            <a:srgbClr val="152740"/>
          </a:solidFill>
          <a:ln w="28575">
            <a:solidFill>
              <a:srgbClr val="E2B8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1975104"/>
            <a:ext cx="17465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3D891"/>
                </a:solidFill>
                <a:latin typeface="Poppin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21488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>
                <a:solidFill>
                  <a:srgbClr val="FFFFFF"/>
                </a:solidFill>
                <a:latin typeface="Poppins"/>
              </a:rPr>
              <a:t>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547872"/>
            <a:ext cx="17465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150">
                <a:solidFill>
                  <a:srgbClr val="F3D891"/>
                </a:solidFill>
                <a:latin typeface="Poppins"/>
              </a:rPr>
              <a:t>LÍTIO</a:t>
            </a:r>
            <a:r>
              <a:rPr sz="1500" b="0">
                <a:solidFill>
                  <a:srgbClr val="A9B5CE"/>
                </a:solidFill>
                <a:latin typeface="Poppins"/>
              </a:rPr>
              <a:t>     6,94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7955279"/>
            <a:ext cx="8787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spc="240">
                <a:solidFill>
                  <a:srgbClr val="E2B854"/>
                </a:solidFill>
                <a:latin typeface="Poppins"/>
              </a:rPr>
              <a:t>ENDOCRINOLOGIA · TOXICIDADE FARMACOLÓGICA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8412479"/>
            <a:ext cx="878738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>
                <a:solidFill>
                  <a:srgbClr val="F5F8FD"/>
                </a:solidFill>
                <a:latin typeface="Poppins"/>
              </a:rPr>
              <a:t>Endocrinopatias induzidas por </a:t>
            </a:r>
            <a:r>
              <a:rPr sz="5000" b="1">
                <a:solidFill>
                  <a:srgbClr val="E2B854"/>
                </a:solidFill>
                <a:latin typeface="Poppins"/>
              </a:rPr>
              <a:t>lítio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0104119"/>
            <a:ext cx="75895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>
                <a:solidFill>
                  <a:srgbClr val="A9B5CE"/>
                </a:solidFill>
                <a:latin typeface="Poppins"/>
              </a:rPr>
              <a:t>Tireoide, paratireoide e túbulo renal — mecanismo, rastreio e conduta.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11944350"/>
            <a:ext cx="2011680" cy="29260"/>
          </a:xfrm>
          <a:prstGeom prst="rect">
            <a:avLst/>
          </a:prstGeom>
          <a:solidFill>
            <a:srgbClr val="E2B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2026646"/>
            <a:ext cx="8787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5CE"/>
                </a:solidFill>
                <a:latin typeface="Poppins"/>
              </a:rPr>
              <a:t>Arraste para o mecanismo, o rastreio e a conduta 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58368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16736" y="658368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320">
                <a:solidFill>
                  <a:srgbClr val="E2B854"/>
                </a:solidFill>
                <a:latin typeface="Poppins"/>
              </a:rPr>
              <a:t>ENDODIRECT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93992" y="65836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200">
                <a:solidFill>
                  <a:srgbClr val="E2B854"/>
                </a:solidFill>
                <a:latin typeface="Poppins"/>
              </a:rPr>
              <a:t>02 </a:t>
            </a:r>
            <a:r>
              <a:rPr sz="1500" b="1" spc="200">
                <a:solidFill>
                  <a:srgbClr val="A9B5CE"/>
                </a:solidFill>
                <a:latin typeface="Poppins"/>
              </a:rPr>
              <a:t>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737360"/>
            <a:ext cx="8787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spc="240">
                <a:solidFill>
                  <a:srgbClr val="E2B854"/>
                </a:solidFill>
                <a:latin typeface="Poppins"/>
              </a:rPr>
              <a:t>MECANISMO E ALVOS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03120"/>
            <a:ext cx="8787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8FD"/>
                </a:solidFill>
                <a:latin typeface="Poppins"/>
              </a:rPr>
              <a:t>Três </a:t>
            </a:r>
            <a:r>
              <a:rPr sz="4000" b="1">
                <a:solidFill>
                  <a:srgbClr val="E2B854"/>
                </a:solidFill>
                <a:latin typeface="Poppins"/>
              </a:rPr>
              <a:t>endocrinopatias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154680"/>
            <a:ext cx="8787384" cy="2743200"/>
          </a:xfrm>
          <a:prstGeom prst="roundRect">
            <a:avLst>
              <a:gd name="adj" fmla="val 5000"/>
            </a:avLst>
          </a:prstGeom>
          <a:solidFill>
            <a:srgbClr val="152740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3154680"/>
            <a:ext cx="64008" cy="2743200"/>
          </a:xfrm>
          <a:prstGeom prst="rect">
            <a:avLst/>
          </a:prstGeom>
          <a:solidFill>
            <a:srgbClr val="E2B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24128" y="3447288"/>
            <a:ext cx="1371600" cy="566928"/>
          </a:xfrm>
          <a:prstGeom prst="roundRect">
            <a:avLst>
              <a:gd name="adj" fmla="val 18000"/>
            </a:avLst>
          </a:prstGeom>
          <a:solidFill>
            <a:srgbClr val="E2B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3447288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50">
                <a:solidFill>
                  <a:srgbClr val="0E1A30"/>
                </a:solidFill>
                <a:latin typeface="Poppins"/>
              </a:rPr>
              <a:t>TSH · T4L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3374136"/>
            <a:ext cx="65928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2300" b="1">
                <a:solidFill>
                  <a:srgbClr val="F3D891"/>
                </a:solidFill>
                <a:latin typeface="Poppins"/>
              </a:rPr>
              <a:t>Tireoide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0">
                <a:solidFill>
                  <a:srgbClr val="A9B5CE"/>
                </a:solidFill>
                <a:latin typeface="Poppins"/>
              </a:rPr>
              <a:t>Inibe a liberação de T3/T4 (± síntese) → bócio (~40%) e hipotireoidismo (OR 5,78; ↑TSH médio ~4 mUI/L). Predomínio ♀ e anti-TPO+. Raro: tireoidite destrutiva ou Graves.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>
                <a:solidFill>
                  <a:srgbClr val="F3D891"/>
                </a:solidFill>
                <a:latin typeface="Poppins"/>
              </a:rPr>
              <a:t>Conduta: levotiroxina — sem suspender o lítio.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6153912"/>
            <a:ext cx="8787384" cy="2743200"/>
          </a:xfrm>
          <a:prstGeom prst="roundRect">
            <a:avLst>
              <a:gd name="adj" fmla="val 5000"/>
            </a:avLst>
          </a:prstGeom>
          <a:solidFill>
            <a:srgbClr val="152740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8" y="6153912"/>
            <a:ext cx="64008" cy="2743200"/>
          </a:xfrm>
          <a:prstGeom prst="rect">
            <a:avLst/>
          </a:prstGeom>
          <a:solidFill>
            <a:srgbClr val="E2B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" y="6446520"/>
            <a:ext cx="1371600" cy="566928"/>
          </a:xfrm>
          <a:prstGeom prst="roundRect">
            <a:avLst>
              <a:gd name="adj" fmla="val 18000"/>
            </a:avLst>
          </a:prstGeom>
          <a:solidFill>
            <a:srgbClr val="E2B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6446520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50">
                <a:solidFill>
                  <a:srgbClr val="0E1A30"/>
                </a:solidFill>
                <a:latin typeface="Poppins"/>
              </a:rPr>
              <a:t>Ca²⁺ · PTH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6373368"/>
            <a:ext cx="65928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2300" b="1">
                <a:solidFill>
                  <a:srgbClr val="F3D891"/>
                </a:solidFill>
                <a:latin typeface="Poppins"/>
              </a:rPr>
              <a:t>Paratireoide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0">
                <a:solidFill>
                  <a:srgbClr val="A9B5CE"/>
                </a:solidFill>
                <a:latin typeface="Poppins"/>
              </a:rPr>
              <a:t>Eleva o set-point do CaSR → hipercalcemia com PTH inapropriadamente normal/alto e calciúria baixa (≠ HPT primário). Frequentemente multiglandular.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>
                <a:solidFill>
                  <a:srgbClr val="F3D891"/>
                </a:solidFill>
                <a:latin typeface="Poppins"/>
              </a:rPr>
              <a:t>Pode persistir após suspender o lítio → considerar paratireoidectomia.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9153144"/>
            <a:ext cx="8787384" cy="2743200"/>
          </a:xfrm>
          <a:prstGeom prst="roundRect">
            <a:avLst>
              <a:gd name="adj" fmla="val 5000"/>
            </a:avLst>
          </a:prstGeom>
          <a:solidFill>
            <a:srgbClr val="152740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9153144"/>
            <a:ext cx="64008" cy="2743200"/>
          </a:xfrm>
          <a:prstGeom prst="rect">
            <a:avLst/>
          </a:prstGeom>
          <a:solidFill>
            <a:srgbClr val="E2B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24128" y="9445752"/>
            <a:ext cx="1371600" cy="566928"/>
          </a:xfrm>
          <a:prstGeom prst="roundRect">
            <a:avLst>
              <a:gd name="adj" fmla="val 18000"/>
            </a:avLst>
          </a:prstGeom>
          <a:solidFill>
            <a:srgbClr val="E2B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9445752"/>
            <a:ext cx="1371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50">
                <a:solidFill>
                  <a:srgbClr val="0E1A30"/>
                </a:solidFill>
                <a:latin typeface="Poppins"/>
              </a:rPr>
              <a:t>AQP2 · ADH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9372600"/>
            <a:ext cx="65928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2300" b="1">
                <a:solidFill>
                  <a:srgbClr val="F3D891"/>
                </a:solidFill>
                <a:latin typeface="Poppins"/>
              </a:rPr>
              <a:t>Túbulo renal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0">
                <a:solidFill>
                  <a:srgbClr val="A9B5CE"/>
                </a:solidFill>
                <a:latin typeface="Poppins"/>
              </a:rPr>
              <a:t>Entra pelo ENaC e reduz a aquaporina-2 → diabetes insípido nefrogênico (capacidade de concentração −15%). Poliúria, risco de hipernatremia; DRC no uso crônico.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650" b="1">
                <a:solidFill>
                  <a:srgbClr val="F3D891"/>
                </a:solidFill>
                <a:latin typeface="Poppins"/>
              </a:rPr>
              <a:t>Conduta: hidratação + amilorida (bloqueia o ENaC); reduzir a dose de lítio.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11944350"/>
            <a:ext cx="2011680" cy="29260"/>
          </a:xfrm>
          <a:prstGeom prst="rect">
            <a:avLst/>
          </a:prstGeom>
          <a:solidFill>
            <a:srgbClr val="E2B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12026646"/>
            <a:ext cx="8787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5CE"/>
                </a:solidFill>
                <a:latin typeface="Poppins"/>
              </a:rPr>
              <a:t>Arraste para o protocolo de monitorização 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58368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16736" y="658368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320">
                <a:solidFill>
                  <a:srgbClr val="E2B854"/>
                </a:solidFill>
                <a:latin typeface="Poppins"/>
              </a:rPr>
              <a:t>ENDODIRECT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93992" y="65836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200">
                <a:solidFill>
                  <a:srgbClr val="E2B854"/>
                </a:solidFill>
                <a:latin typeface="Poppins"/>
              </a:rPr>
              <a:t>03 </a:t>
            </a:r>
            <a:r>
              <a:rPr sz="1500" b="1" spc="200">
                <a:solidFill>
                  <a:srgbClr val="A9B5CE"/>
                </a:solidFill>
                <a:latin typeface="Poppins"/>
              </a:rPr>
              <a:t>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737360"/>
            <a:ext cx="8787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spc="240">
                <a:solidFill>
                  <a:srgbClr val="E2B854"/>
                </a:solidFill>
                <a:latin typeface="Poppins"/>
              </a:rPr>
              <a:t>RASTREIO E MONITORIZAÇÃO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03120"/>
            <a:ext cx="8787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8FD"/>
                </a:solidFill>
                <a:latin typeface="Poppins"/>
              </a:rPr>
              <a:t>O que </a:t>
            </a:r>
            <a:r>
              <a:rPr sz="4000" b="1">
                <a:solidFill>
                  <a:srgbClr val="E2B854"/>
                </a:solidFill>
                <a:latin typeface="Poppins"/>
              </a:rPr>
              <a:t>dosar</a:t>
            </a:r>
            <a:r>
              <a:rPr sz="4000" b="1">
                <a:solidFill>
                  <a:srgbClr val="F5F8FD"/>
                </a:solidFill>
                <a:latin typeface="Poppins"/>
              </a:rPr>
              <a:t> e quando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108960"/>
            <a:ext cx="8787384" cy="1280160"/>
          </a:xfrm>
          <a:prstGeom prst="roundRect">
            <a:avLst>
              <a:gd name="adj" fmla="val 6000"/>
            </a:avLst>
          </a:prstGeom>
          <a:solidFill>
            <a:srgbClr val="152740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3108960"/>
            <a:ext cx="27432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3D891"/>
                </a:solidFill>
                <a:latin typeface="Poppins"/>
              </a:rPr>
              <a:t>Litemia-alvo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5616" y="3108960"/>
            <a:ext cx="5495544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A9B5CE"/>
                </a:solidFill>
                <a:latin typeface="Poppins"/>
              </a:rPr>
              <a:t>0,6–0,8 mmol/L (manutenção; até 1,0 na mania aguda). Janela estreita — intoxicação &gt; 1,5: tremor, ataxia, confusão.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590288"/>
            <a:ext cx="8787384" cy="1280160"/>
          </a:xfrm>
          <a:prstGeom prst="roundRect">
            <a:avLst>
              <a:gd name="adj" fmla="val 6000"/>
            </a:avLst>
          </a:prstGeom>
          <a:solidFill>
            <a:srgbClr val="152740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4590288"/>
            <a:ext cx="27432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3D891"/>
                </a:solidFill>
                <a:latin typeface="Poppins"/>
              </a:rPr>
              <a:t>Exames e intervalo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6" y="4590288"/>
            <a:ext cx="5495544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A9B5CE"/>
                </a:solidFill>
                <a:latin typeface="Poppins"/>
              </a:rPr>
              <a:t>TSH, cálcio (± PTH) e creatinina/eGFR no basal, aos 6 meses e depois anual (ou se houver sintomas).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6071616"/>
            <a:ext cx="8787384" cy="1280160"/>
          </a:xfrm>
          <a:prstGeom prst="roundRect">
            <a:avLst>
              <a:gd name="adj" fmla="val 6000"/>
            </a:avLst>
          </a:prstGeom>
          <a:solidFill>
            <a:srgbClr val="152740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2416" y="6071616"/>
            <a:ext cx="27432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3D891"/>
                </a:solidFill>
                <a:latin typeface="Poppins"/>
              </a:rPr>
              <a:t>Hipotireoidismo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6" y="6071616"/>
            <a:ext cx="5495544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A9B5CE"/>
                </a:solidFill>
                <a:latin typeface="Poppins"/>
              </a:rPr>
              <a:t>Levotiroxina, mantendo o lítio. Tratar o subclínico se sintomático, anti-TPO+ ou gestante.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7552944"/>
            <a:ext cx="8787384" cy="1280160"/>
          </a:xfrm>
          <a:prstGeom prst="roundRect">
            <a:avLst>
              <a:gd name="adj" fmla="val 6000"/>
            </a:avLst>
          </a:prstGeom>
          <a:solidFill>
            <a:srgbClr val="152740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7552944"/>
            <a:ext cx="27432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3D891"/>
                </a:solidFill>
                <a:latin typeface="Poppins"/>
              </a:rPr>
              <a:t>Hiperparatireoidismo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85616" y="7552944"/>
            <a:ext cx="5495544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A9B5CE"/>
                </a:solidFill>
                <a:latin typeface="Poppins"/>
              </a:rPr>
              <a:t>Confirmar cálcio + PTH; cirurgia se sintomático/persistente (pode não regredir ao suspender).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9034272"/>
            <a:ext cx="8787384" cy="1280160"/>
          </a:xfrm>
          <a:prstGeom prst="roundRect">
            <a:avLst>
              <a:gd name="adj" fmla="val 6000"/>
            </a:avLst>
          </a:prstGeom>
          <a:solidFill>
            <a:srgbClr val="152740"/>
          </a:solidFill>
          <a:ln w="12700">
            <a:solidFill>
              <a:srgbClr val="2A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" y="9034272"/>
            <a:ext cx="27432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3D891"/>
                </a:solidFill>
                <a:latin typeface="Poppins"/>
              </a:rPr>
              <a:t>DI nefrogênico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5616" y="9034272"/>
            <a:ext cx="5495544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>
                <a:solidFill>
                  <a:srgbClr val="A9B5CE"/>
                </a:solidFill>
                <a:latin typeface="Poppins"/>
              </a:rPr>
              <a:t>Amilorida + hidratação; discutir troca/redução do lítio com a psiquiatria.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11944350"/>
            <a:ext cx="2011680" cy="29260"/>
          </a:xfrm>
          <a:prstGeom prst="rect">
            <a:avLst/>
          </a:prstGeom>
          <a:solidFill>
            <a:srgbClr val="E2B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12026646"/>
            <a:ext cx="8787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A9B5CE"/>
                </a:solidFill>
                <a:latin typeface="Poppins"/>
              </a:rPr>
              <a:t>Arraste para começar agora 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A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658368"/>
            <a:ext cx="457200" cy="457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16736" y="658368"/>
            <a:ext cx="4572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320">
                <a:solidFill>
                  <a:srgbClr val="E2B854"/>
                </a:solidFill>
                <a:latin typeface="Poppins"/>
              </a:rPr>
              <a:t>ENDODIRECT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93992" y="65836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spc="200">
                <a:solidFill>
                  <a:srgbClr val="E2B854"/>
                </a:solidFill>
                <a:latin typeface="Poppins"/>
              </a:rPr>
              <a:t>04 </a:t>
            </a:r>
            <a:r>
              <a:rPr sz="1500" b="1" spc="200">
                <a:solidFill>
                  <a:srgbClr val="A9B5CE"/>
                </a:solidFill>
                <a:latin typeface="Poppins"/>
              </a:rPr>
              <a:t>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737360"/>
            <a:ext cx="8787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spc="240">
                <a:solidFill>
                  <a:srgbClr val="E2B854"/>
                </a:solidFill>
                <a:latin typeface="Poppins"/>
              </a:rPr>
              <a:t>ESTUDE NO ENDODIRECT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03120"/>
            <a:ext cx="878738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5F8FD"/>
                </a:solidFill>
                <a:latin typeface="Poppins"/>
              </a:rPr>
              <a:t>Do feed ao </a:t>
            </a:r>
            <a:r>
              <a:rPr sz="4000" b="1">
                <a:solidFill>
                  <a:srgbClr val="E2B854"/>
                </a:solidFill>
                <a:latin typeface="Poppins"/>
              </a:rPr>
              <a:t>flashcard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154680"/>
            <a:ext cx="4256532" cy="3200400"/>
          </a:xfrm>
          <a:prstGeom prst="roundRect">
            <a:avLst>
              <a:gd name="adj" fmla="val 7000"/>
            </a:avLst>
          </a:prstGeom>
          <a:solidFill>
            <a:srgbClr val="152740"/>
          </a:solidFill>
          <a:ln w="12700">
            <a:solidFill>
              <a:srgbClr val="334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3465576"/>
            <a:ext cx="3634740" cy="2578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spc="200">
                <a:solidFill>
                  <a:srgbClr val="E2B854"/>
                </a:solidFill>
                <a:latin typeface="Poppins"/>
              </a:rPr>
              <a:t>PERGUNTA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2200" b="1">
                <a:solidFill>
                  <a:srgbClr val="F5F8FD"/>
                </a:solidFill>
                <a:latin typeface="Poppins"/>
              </a:rPr>
              <a:t>Quais alterações do metabolismo ósseo e renal causadas pelo lítio?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A9B5CE"/>
                </a:solidFill>
                <a:latin typeface="Poppins"/>
              </a:rPr>
              <a:t>toque para ver a resposta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80660" y="3154680"/>
            <a:ext cx="4256532" cy="3200400"/>
          </a:xfrm>
          <a:prstGeom prst="roundRect">
            <a:avLst>
              <a:gd name="adj" fmla="val 7000"/>
            </a:avLst>
          </a:prstGeom>
          <a:solidFill>
            <a:srgbClr val="0F2E24"/>
          </a:solidFill>
          <a:ln w="12700">
            <a:solidFill>
              <a:srgbClr val="2A5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91556" y="3465576"/>
            <a:ext cx="3634740" cy="2578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1" spc="200">
                <a:solidFill>
                  <a:srgbClr val="5FD6A0"/>
                </a:solidFill>
                <a:latin typeface="Poppins"/>
              </a:rPr>
              <a:t>RESPOSTA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A9E6C8"/>
                </a:solidFill>
                <a:latin typeface="Poppins"/>
              </a:rPr>
              <a:t>Hipercalcemia / hiperparatireoidismo (desloca o set-point do receptor de cálcio) e diabetes insípido nefrogênico em 20–40% por downregulação da AQP2.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>
                <a:solidFill>
                  <a:srgbClr val="A9B5CE"/>
                </a:solidFill>
                <a:latin typeface="Poppins"/>
              </a:rPr>
              <a:t>↩ toque para voltar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6812280"/>
            <a:ext cx="7909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>
                <a:solidFill>
                  <a:srgbClr val="A9B5CE"/>
                </a:solidFill>
                <a:latin typeface="Poppins"/>
              </a:rPr>
              <a:t>Este card — e centenas de outros — com diretrizes, mapas mentais e banco de questões.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25980" y="8046720"/>
            <a:ext cx="6035040" cy="914400"/>
          </a:xfrm>
          <a:prstGeom prst="roundRect">
            <a:avLst>
              <a:gd name="adj" fmla="val 50000"/>
            </a:avLst>
          </a:prstGeom>
          <a:solidFill>
            <a:srgbClr val="E2B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25980" y="804672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spc="50">
                <a:solidFill>
                  <a:srgbClr val="0E1A30"/>
                </a:solidFill>
                <a:latin typeface="Poppins"/>
              </a:rPr>
              <a:t>Comece agora  ·  endodirect.com.br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9180576"/>
            <a:ext cx="87873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F3D891"/>
                </a:solidFill>
                <a:latin typeface="Poppins"/>
              </a:rPr>
              <a:t>🔗 Link na bio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11578590"/>
            <a:ext cx="2011680" cy="29260"/>
          </a:xfrm>
          <a:prstGeom prst="rect">
            <a:avLst/>
          </a:prstGeom>
          <a:solidFill>
            <a:srgbClr val="E2B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11688318"/>
            <a:ext cx="878738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A9B5CE"/>
                </a:solidFill>
                <a:latin typeface="Poppins"/>
              </a:rPr>
              <a:t>Endodirect — diretrizes, flashcards e banco de questões de endocrinologia.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